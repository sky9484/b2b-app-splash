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22A7F0"/>
            </a:solidFill>
            <a:effectLst/>
          </c:spPr>
          <c:invertIfNegative val="0"/>
          <c:dLbls>
            <c:numFmt formatCode="&quot;$&quot;#,##0&quot;k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600</c:v>
                </c:pt>
                <c:pt idx="2">
                  <c:v>2300</c:v>
                </c:pt>
                <c:pt idx="3">
                  <c:v>5800</c:v>
                </c:pt>
                <c:pt idx="4">
                  <c:v>13200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8e88ff5-a172-450d-9983-31aaac0915b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4876678" cy="457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0" b="1" kern="0" spc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11600" b="1" kern="0" spc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Cross-border payments that actually MOVE.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Sui-native payment engine for Southeast Asia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Pitch  •  Pre-Seed / Seed  •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Malaysian SMEs pay 3–5% to move money abroad.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$8–12 billion of Malaysian SME cross-border payouts every year are served by broken rails.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749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37490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SWIFT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3–5%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434340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3–5 days to settle. No API. No batching. The default for SMEs.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377440"/>
            <a:ext cx="3749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2377440"/>
            <a:ext cx="37490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06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2461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Wise blocks businesses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6118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30k/day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4572000" y="434340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serve MY business flows. Retail limits apply even on access.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377440"/>
            <a:ext cx="3749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38160" y="2377440"/>
            <a:ext cx="37490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060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461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Informal P2P is illegal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MSB Act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8412480" y="434340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Unregulated OTC violates MSB Act 2011. Freezes and fines are common.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5349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agencies paying overseas developers  •  E-commerce paying suppliers  •  Production studios on freelancer retainers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20k–200k monthly volume  •  5–30 recipients per cycle  •  Need receipts, API, batch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money abroad in minutes, for under 1.8%.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regulated, API-first cross-border engine on Sui. Compliant rails. Consumer-grade UX.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51760"/>
            <a:ext cx="73152" cy="35661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8036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5 min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Settled via USDC on Sui. Sub-second finality on-chain. No waiting days for SWIFT.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65176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651760"/>
            <a:ext cx="73152" cy="356616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88036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840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63440" y="42976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D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1.5–1.8%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663440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All-in cost to customer. 60–70% cheaper than bank SWIFT. Transparent.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65176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38160" y="2651760"/>
            <a:ext cx="73152" cy="3566160"/>
          </a:xfrm>
          <a:prstGeom prst="rect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880360"/>
            <a:ext cx="822960" cy="8229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920" y="3840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503920" y="42976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MSB tier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8503920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SC-regulated DAX rails. BNM sandbox track. Full KYC/KYT on every transaction.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never hold SUI or pay gas — we sponsor transactions via Enoki. Sui's 2026 roadmap adds protocol-level gasless stablecoin transfers as upside.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money path, end to end.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under the hood. Invisible to the customer.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0888" y="2651760"/>
            <a:ext cx="18288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8088" y="2880360"/>
            <a:ext cx="914400" cy="914400"/>
          </a:xfrm>
          <a:prstGeom prst="ellipse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688" y="31089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26768" y="2743200"/>
            <a:ext cx="411480" cy="411480"/>
          </a:xfrm>
          <a:prstGeom prst="ellipse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26768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232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2328" y="4343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uploads payout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 rot="5400000">
            <a:off x="2575408" y="3657600"/>
            <a:ext cx="320040" cy="182880"/>
          </a:xfrm>
          <a:prstGeom prst="rtTriangl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41168" y="2651760"/>
            <a:ext cx="18288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98368" y="2880360"/>
            <a:ext cx="914400" cy="914400"/>
          </a:xfrm>
          <a:prstGeom prst="ellips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3108960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67048" y="2743200"/>
            <a:ext cx="411480" cy="411480"/>
          </a:xfrm>
          <a:prstGeom prst="ellipse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67048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3260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MYR → USDC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032608" y="4343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regulated DAX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 rot="5400000">
            <a:off x="4815688" y="3657600"/>
            <a:ext cx="320040" cy="182880"/>
          </a:xfrm>
          <a:prstGeom prst="rtTriangl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181448" y="2651760"/>
            <a:ext cx="18288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38648" y="2880360"/>
            <a:ext cx="914400" cy="91440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108960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507328" y="2743200"/>
            <a:ext cx="411480" cy="411480"/>
          </a:xfrm>
          <a:prstGeom prst="ellipse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07328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27288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 Settlement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272888" y="4343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1s finality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 rot="5400000">
            <a:off x="7055968" y="3657600"/>
            <a:ext cx="320040" cy="182880"/>
          </a:xfrm>
          <a:prstGeom prst="rtTriangl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21728" y="2651760"/>
            <a:ext cx="18288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878928" y="2880360"/>
            <a:ext cx="914400" cy="914400"/>
          </a:xfrm>
          <a:prstGeom prst="ellips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528" y="3108960"/>
            <a:ext cx="457200" cy="4572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747608" y="2743200"/>
            <a:ext cx="411480" cy="411480"/>
          </a:xfrm>
          <a:prstGeom prst="ellipse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747608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51316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USDC → Local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513168" y="4343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partner off-ramp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 rot="5400000">
            <a:off x="9296248" y="3657600"/>
            <a:ext cx="320040" cy="182880"/>
          </a:xfrm>
          <a:prstGeom prst="rtTriangle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662008" y="2651760"/>
            <a:ext cx="1828800" cy="2194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119208" y="2880360"/>
            <a:ext cx="914400" cy="914400"/>
          </a:xfrm>
          <a:prstGeom prst="ellipse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808" y="3108960"/>
            <a:ext cx="457200" cy="4572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0987888" y="2743200"/>
            <a:ext cx="411480" cy="411480"/>
          </a:xfrm>
          <a:prstGeom prst="ellipse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0987888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753448" y="39319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9753448" y="43434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account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SME sees MYR in, local currency out. Everything in between is our orchestration.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Settlement on Sui  •  USDC primary (USDT routing in select corridors)  •  Gas sponsored — users never hold SUI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•  WHAT WE'RE BUILDING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B2B Cross-Border Payout Engine.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1–12. Malaysia → Philippines corridor first. API + Web dashboard for SMEs.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394960" cy="17373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91440" cy="17373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VOLUME TARGET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$50k–$100k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Month 9–12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17373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743200"/>
            <a:ext cx="91440" cy="17373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926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PAYING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24612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50+ SMEs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675120" y="4023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30%+ retention month-2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394960" cy="17373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663440"/>
            <a:ext cx="91440" cy="17373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ALL-IN 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1.5–1.8%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 cheaper than bank SWIFT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663440"/>
            <a:ext cx="5394960" cy="17373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663440"/>
            <a:ext cx="91440" cy="17373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846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SETTLEMENT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51663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5 minutes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675120" y="5943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3–5 days on SWIFT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•  UX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Create a new payout.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472184"/>
            <a:ext cx="6839712" cy="502920"/>
          </a:xfrm>
          <a:prstGeom prst="rect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5910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 •  Send  •  History  • 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Payout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RM to your recipient in 4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101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Juan Dela Cruz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DESTINATION COUNTRY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329184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33101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🇵🇭  Philippines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BANK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330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BDO Unibank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840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11480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413308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0045 2219 8847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 TO SEND (MYR)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560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4,500.00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663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GETS (PHP)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4937760"/>
            <a:ext cx="3108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49560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 58,420.00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 FOR RECIPIENT (OPTIONAL)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760720"/>
            <a:ext cx="63093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77900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November invoice payment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1463040"/>
            <a:ext cx="4114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1463040"/>
            <a:ext cx="91440" cy="4937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SME sees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Recipient details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63840" y="251460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24688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name + country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27432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Auto-validates SWIFT/bank format for the destination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315468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31089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+ account number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33832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validate account format against destination country rules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63840" y="379476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7490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 in MYR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38160" y="40233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FX quote updates — recipient amount shown instantly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63840" y="443484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3891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note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38160" y="46634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Shown on recipient's bank statement (where supported)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63840" y="5120640"/>
            <a:ext cx="3657600" cy="105156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52120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Recipients are saved automatically — next time, the SME just picks from a list.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•  UX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Review quote. Confirm. Pay.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472184"/>
            <a:ext cx="6839712" cy="502920"/>
          </a:xfrm>
          <a:prstGeom prst="rect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5910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 •  Send  •  History  • 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your transfer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0" y="2194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21284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64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Quote expires in 27s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926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Juan Dela Cruz  •  BDO Unibank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383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0045 2219 8847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4,500.00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42976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MYR = 12.9822 PHP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6634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 fee (1.5%)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67.50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gets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5212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 58,420.00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715000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1500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&amp; pay via FPX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1463040"/>
            <a:ext cx="4114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1463040"/>
            <a:ext cx="91440" cy="4937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Locked quote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63840" y="251460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24688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FX rate locked for 30s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27432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 + Switchboard oracles. SME sees the exact PHP amount upfront.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324612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3200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SME pays via FPX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347472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Malaysian online banking. Money lands in our MSB-tier account.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63840" y="397764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931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SOR picks best rail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38160" y="42062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MYR→USDC via Hata (sole Phase 1 DAX). USDT routing only if peg within 30bps &amp; KYC tier ≥ 2.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63840" y="4709160"/>
            <a:ext cx="182880" cy="18288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663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runs in parallel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38160" y="49377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Sumsub KYC, Elliptic KYT, sanctions screening — all before execution.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•  UX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Track. Or batch 30 payouts at once.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472184"/>
            <a:ext cx="6839712" cy="502920"/>
          </a:xfrm>
          <a:prstGeom prst="rect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5910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 •  Send  •  History  • 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in progress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4,500.00 → ₱ 58,420.00 for Juan Dela Cruz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274320" cy="27432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3520440"/>
            <a:ext cx="36576" cy="2743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1868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FPX received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21868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12:04:17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274320" cy="27432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" y="4069080"/>
            <a:ext cx="36576" cy="2743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67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MYR → USDC on Hata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7673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12:04:31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274320" cy="27432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617720"/>
            <a:ext cx="36576" cy="2743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976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1596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USDC on Sui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431596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12:04:33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892040"/>
            <a:ext cx="274320" cy="27432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" y="5166360"/>
            <a:ext cx="36576" cy="2743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463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8646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USDC → PHP on Coins.ph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864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12:05:08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5440680"/>
            <a:ext cx="274320" cy="2743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4132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to BDO Unibank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541324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~12:07:00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897880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89788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A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Recipient will be notified by SMS once funds arrive.  ETA: 2 minutes.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1463040"/>
            <a:ext cx="4114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1463040"/>
            <a:ext cx="91440" cy="4937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1600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Payouts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upload. 30 payouts.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863840" y="2514600"/>
            <a:ext cx="3657600" cy="20116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5786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payouts_nov2026.csv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55280" y="2880360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name,country,bank,account,amount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Juan Dela Cruz,PH,BDO,004522...,4500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Maria Santos,PH,BPI,002018...,3200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Budi Hartono,ID,BCA,100923...,5800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Nguyen Van A,VN,TCB,190923...,2100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 26 more rows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63840" y="4736592"/>
            <a:ext cx="137160" cy="13716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4663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CSV, API, or Google Sheets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5010912"/>
            <a:ext cx="137160" cy="13716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4937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approval, 30 atomic settlements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63840" y="5285232"/>
            <a:ext cx="137160" cy="13716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5212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10bps batch discount (10+ payouts)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63840" y="5559552"/>
            <a:ext cx="137160" cy="13716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54864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audit trail, accounting export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63840" y="5833872"/>
            <a:ext cx="137160" cy="137160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5760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Wise can't do this. Banks definitely can't.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Nobody serves Malaysian SMEs on this corridor well.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280160"/>
                <a:gridCol w="1188720"/>
                <a:gridCol w="1463040"/>
                <a:gridCol w="40233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Provider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SMEs?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 API?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 Edge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Bank SWIFT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3–5%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3–5 days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We're 60% cheaper, same-day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0.5–0.7%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1 day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(MY)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 serve businesses; Wise won't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TnG, GrabPay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Instant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They're domestic-only. No cross-border.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Informal P2P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We're legal. They violate MSB Act.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4F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SPLASH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D2A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1.5–1.8%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D2A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5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D2A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D2A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4F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Sui-native. Regulated. API-first.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66928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moat: MSB license + bank partnerships + DAX relationships + Sui-native tech = 18–36 months to replicate.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7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Splash makes money.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Sample: SME sends RM 4,500 to a Philippine freelancer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65836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73152" cy="64008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FX spread (bundled in rate)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2860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54.00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2286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65836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fee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 9.00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0175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65836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73152" cy="64008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transaction fee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 4.50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749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6583680" cy="685800"/>
          </a:xfrm>
          <a:prstGeom prst="rect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7200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gross revenue from this txn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5720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D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67.50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4572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costs: gross margin ≈ 40–50% at scale.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7150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Add: API subscriptions (RM 99–299/mo), batch surcharge, enterprise tier, float income (P2+).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1031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5-YEAR NET REVENUE  ($k)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7498080" y="246888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7498080" y="57150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1: $50k  →  Year 5: $13.2M net revenue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0" y="60350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$7M → $1.8B annual volume processed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TRACTION &amp; NEXT 12 MONTHS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12-month plan to $50k daily volume.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3708" y="1920240"/>
            <a:ext cx="2743200" cy="457200"/>
          </a:xfrm>
          <a:prstGeom prst="rect">
            <a:avLst/>
          </a:prstGeom>
          <a:solidFill>
            <a:srgbClr val="0B4F8B"/>
          </a:solidFill>
          <a:ln w="12700">
            <a:solidFill>
              <a:srgbClr val="0B4F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148" y="1920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 •  FOUNDATION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3708" y="2377440"/>
            <a:ext cx="2743200" cy="320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028" y="256032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MSB application filed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BNM Sandbox applied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on testnet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84068" y="1920240"/>
            <a:ext cx="2743200" cy="45720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5508" y="1920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  •  PILOT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84068" y="2377440"/>
            <a:ext cx="2743200" cy="320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8388" y="256032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MY→PH corridor live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pilot SMEs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500k processed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4428" y="1920240"/>
            <a:ext cx="2743200" cy="45720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5868" y="1920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  •  GROW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4428" y="2377440"/>
            <a:ext cx="2743200" cy="320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748" y="256032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MY→ID corridor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paying SMEs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$20k daily volume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4788" y="1920240"/>
            <a:ext cx="2743200" cy="4572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6228" y="1920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  •  SCALE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4788" y="2377440"/>
            <a:ext cx="2743200" cy="320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9108" y="256032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$50–100k daily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50+ SMEs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Seed round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23560"/>
            <a:ext cx="91440" cy="77724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87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of 2 (Founder + CTO Sebastian)  •  Hata business account: application in progress  •  Coins.ph: partnership discussions  •  Skrine as regulatory counsel  •  Sui Foundation grant submitted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LONG GAME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payment engine to regional super app.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phase earns the right to the next. We stay disciplined about what goes 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5692" y="2606040"/>
            <a:ext cx="2240280" cy="31089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5692" y="2606040"/>
            <a:ext cx="2240280" cy="73152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012" y="28803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D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555852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0012" y="388620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0012" y="4572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B2B cross-border payouts. MSB license.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0012" y="51663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012" y="516636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A2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WE ARE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25700" y="2606040"/>
            <a:ext cx="2240280" cy="31089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5700" y="2606040"/>
            <a:ext cx="2240280" cy="73152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0020" y="28803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3905860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00020" y="388620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Infra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00020" y="4572000"/>
            <a:ext cx="1691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corridors. Bank FX partnerships. Market-maker RFQ. $500k daily.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75708" y="2606040"/>
            <a:ext cx="2240280" cy="31089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5708" y="2606040"/>
            <a:ext cx="2240280" cy="73152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0028" y="28803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6255868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0028" y="388620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+ AI Assistant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0028" y="4572000"/>
            <a:ext cx="1691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wallet, QR, merchants. AI assistant helps users author payments. 100k users.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25716" y="2606040"/>
            <a:ext cx="2240280" cy="31089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5716" y="2606040"/>
            <a:ext cx="2240280" cy="73152"/>
          </a:xfrm>
          <a:prstGeom prst="rect">
            <a:avLst/>
          </a:prstGeom>
          <a:solidFill>
            <a:srgbClr val="5A7DB8"/>
          </a:solidFill>
          <a:ln w="12700">
            <a:solidFill>
              <a:srgbClr val="5A7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0036" y="28803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5A7D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8605876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00036" y="388620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Services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00036" y="4572000"/>
            <a:ext cx="1691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Isolated yield. SME lending. CMSL license. $100M ARR. Human-in-the-loop only.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75724" y="2606040"/>
            <a:ext cx="2240280" cy="310896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75724" y="2606040"/>
            <a:ext cx="2240280" cy="73152"/>
          </a:xfrm>
          <a:prstGeom prst="rect">
            <a:avLst/>
          </a:prstGeom>
          <a:solidFill>
            <a:srgbClr val="5A7DB8"/>
          </a:solidFill>
          <a:ln w="12700">
            <a:solidFill>
              <a:srgbClr val="5A7D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50044" y="28803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5A7D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10955884" y="3063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Y5+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950044" y="388620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 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950044" y="4572000"/>
            <a:ext cx="1691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expansion. Insurance, invest, commerce. 1–3M users.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112B5A"/>
          </a:solidFill>
          <a:ln w="12700">
            <a:solidFill>
              <a:srgbClr val="1A3C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989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 Where AI lives in Splash: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59893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Phase 3 consumer feature — assisted payment authoring. Not an autonomous agent. Users always sign every transaction.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Raising $1.5M Seed.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18-month runway to MSB license + $100k daily volume + Series A readiness.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5760720" cy="365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team (5 hires)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3017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$675k  (45%)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20440"/>
            <a:ext cx="2560320" cy="365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20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Regulatory + licensing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3520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$300k  (20%)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64008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2560320" cy="365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23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capital (float)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4023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$300k  (20%)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64008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26280"/>
            <a:ext cx="1280160" cy="365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26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+ audit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45262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$150k  (10%)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64008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029200"/>
            <a:ext cx="640080" cy="36576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GTM + customer acquisition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50292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$75k  (5%)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2651760"/>
            <a:ext cx="2926080" cy="3749040"/>
          </a:xfrm>
          <a:prstGeom prst="rect">
            <a:avLst/>
          </a:prstGeom>
          <a:solidFill>
            <a:srgbClr val="0A1E3F"/>
          </a:solidFill>
          <a:ln w="12700">
            <a:solidFill>
              <a:srgbClr val="0A1E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2651760"/>
            <a:ext cx="91440" cy="374904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7889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$1.5M BUYS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0" y="322783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315468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MSB Class B license granted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61120" y="363931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35661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MY→PH corridor live, scaled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1120" y="405079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39776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MY→ID corridor launched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446227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43891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50+ paying SME customers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61120" y="487375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48006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$50–100k daily volume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61120" y="528523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521208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Series A-ready metrics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0" y="5696712"/>
            <a:ext cx="164592" cy="164592"/>
          </a:xfrm>
          <a:prstGeom prst="ellipse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89720" y="5623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18-month runway buffer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tailwinds converging in 2026.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Regulation is ready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548640" cy="36576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BNM's Fintech Sandbox is live. Five SC-regulated DAXs exist. DuitNow is mature. MYR stablecoin pilots begin 2027.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4297680" y="310896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 has arrived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3931920"/>
            <a:ext cx="548640" cy="36576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4114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Sub-second finality. Sponsored gas via Enoki. zkLogin. USDC native. 2026 roadmap adds protocol-level gasless stablecoin transfers.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201168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8138160" y="310896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SME cross-border is on fire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3931920"/>
            <a:ext cx="548640" cy="36576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114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$8–12B Malaysian SME outbound growing 15–20% yearly. Gig economy and intra-ASEAN commerce outpace existing rails.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B4F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5695" y="6565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67048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•  VC Pitch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4876678" cy="45720"/>
          </a:xfrm>
          <a:prstGeom prst="rect">
            <a:avLst/>
          </a:prstGeom>
          <a:solidFill>
            <a:srgbClr val="00D2A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kern="0" spc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SPLASH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47675" y="3429000"/>
            <a:ext cx="11247120" cy="594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cross-border payments feel like WhatsApp.</a:t>
            </a:r>
            <a:endParaRPr lang="en-US" sz="2400" i="1" dirty="0">
              <a:solidFill>
                <a:srgbClr val="22A7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2400" i="1" dirty="0">
                <a:solidFill>
                  <a:srgbClr val="22A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Make Money must Move. Don’t let it Rust</a:t>
            </a:r>
            <a:endParaRPr lang="en-US" sz="2400" i="1" dirty="0">
              <a:solidFill>
                <a:srgbClr val="22A7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64328" y="4114800"/>
            <a:ext cx="1463040" cy="45720"/>
          </a:xfrm>
          <a:prstGeom prst="rect">
            <a:avLst/>
          </a:prstGeom>
          <a:solidFill>
            <a:srgbClr val="22A7F0"/>
          </a:solidFill>
          <a:ln w="12700">
            <a:solidFill>
              <a:srgbClr val="22A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build the ASEAN payment rail — together.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AFC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 xml:space="preserve">sky fh  •  sky@splash.xyz  •  splash.xyz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8287</Words>
  <Application>WPS Presentation</Application>
  <PresentationFormat>On-screen Show (16:9)</PresentationFormat>
  <Paragraphs>675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Splash — Cross-border Payments on Sui</dc:title>
  <dc:creator>Splash Founding Team</dc:creator>
  <dc:subject>PptxGenJS Presentation</dc:subject>
  <cp:lastModifiedBy>Sky Handsome</cp:lastModifiedBy>
  <cp:revision>2</cp:revision>
  <dcterms:created xsi:type="dcterms:W3CDTF">2026-04-24T22:18:00Z</dcterms:created>
  <dcterms:modified xsi:type="dcterms:W3CDTF">2026-04-25T05:17:28Z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C0DAD7A6CA1A4CDCB1C19753F742CB9F_12</vt:lpwstr>
  </property>
  <property fmtid="{D5CDD505-2E9C-101B-9397-08002B2CF9AE}" pid="3" name="KSOProductBuildVer">
    <vt:lpwstr>1033-12.1.0.25242</vt:lpwstr>
  </property>
</Properties>
</file>